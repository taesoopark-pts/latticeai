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1_login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2_workspace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3_mode_select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4_basic_dashboard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5_chat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6_knowledge_graph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7_files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8_auto_setup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09_advanced_home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10_pipeline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11_mcp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12_admin_dashboard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ttice_final_lang_images/13_security_auth_languag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설계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세 가지 약속으로 만드는 Lattice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화면이 아니라 ‘경험’을 통일한다 — 어떤 OS, 어떤 화면에서도 같은 것이 같게 보이고, 같게 동작한다.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08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02A"/>
                </a:solidFill>
                <a:latin typeface="Pretendard"/>
                <a:ea typeface="Pretendard"/>
              </a:rPr>
              <a:t>Cross-Platform 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Windows · macOS · Linux · iOS · Android.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같은 코드, 같은 디자인 토큰, 같은 상호작용.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픽셀 단위로 ‘동일하게 보이는’ 것이 기본값이다.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8892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3108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94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02A"/>
                </a:solidFill>
                <a:latin typeface="Pretendard"/>
                <a:ea typeface="Pretendard"/>
              </a:rPr>
              <a:t>Zero-Config Auto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사용자가 ‘설정’을 만나지 않는다.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OS · CPU · GPU · RAM · 디스크를 스스로 감지하고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그 사양에 가장 적합한 모델·런타임·도구를 자동 설치한다.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8892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8200" y="3108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02A"/>
                </a:solidFill>
                <a:latin typeface="Pretendard"/>
                <a:ea typeface="Pretendard"/>
              </a:rPr>
              <a:t>Everything is a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8912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대화·파일·코드·도구·사람을 모두 ‘노드(점)’로,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그 사이의 의미적 관계를 ‘엣지(선)’로 표현한다.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F6D"/>
                </a:solidFill>
                <a:latin typeface="Pretendard"/>
                <a:ea typeface="Pretendard"/>
              </a:rPr>
              <a:t>워크스페이스 전체가 하나의 지식 그래프다.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크로스플랫폼 일관성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하나의 코드, 다섯 개의 화면, 동일한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공유 디자인 토큰과 컴포넌트 라이브러리로 모든 플랫폼이 같은 시각·행동 규약을 따른다.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1F8E"/>
                </a:solidFill>
                <a:latin typeface="Pretendard"/>
                <a:ea typeface="Pretendard"/>
              </a:rPr>
              <a:t>공유 레이어 (Shared 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118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73152" cy="548640"/>
          </a:xfrm>
          <a:prstGeom prst="rect">
            <a:avLst/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8503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E102A"/>
                </a:solidFill>
                <a:latin typeface="Pretendard"/>
                <a:ea typeface="Pretendard"/>
              </a:rPr>
              <a:t>Design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04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색 · 간격 · 폰트 · 모션 · 반경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70248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70248"/>
            <a:ext cx="73152" cy="548640"/>
          </a:xfrm>
          <a:prstGeom prst="rect">
            <a:avLst/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E102A"/>
                </a:solidFill>
                <a:latin typeface="Pretendard"/>
                <a:ea typeface="Pretendard"/>
              </a:rPr>
              <a:t>UI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62856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Button · Card · List · Modal · 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28616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928616"/>
            <a:ext cx="73152" cy="548640"/>
          </a:xfrm>
          <a:prstGeom prst="rect">
            <a:avLst/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017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E102A"/>
                </a:solidFill>
                <a:latin typeface="Pretendard"/>
                <a:ea typeface="Pretendard"/>
              </a:rPr>
              <a:t>Business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21224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상태 · 라우팅 · 권한 · 동기화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86984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586984"/>
            <a:ext cx="73152" cy="548640"/>
          </a:xfrm>
          <a:prstGeom prst="rect">
            <a:avLst/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0136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E102A"/>
                </a:solidFill>
                <a:latin typeface="Pretendard"/>
                <a:ea typeface="Pretendard"/>
              </a:rPr>
              <a:t>AI / Graph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LLM 런타임 추상화 · 그래프 엔진 · MCP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2834640"/>
            <a:ext cx="5989320" cy="3291840"/>
          </a:xfrm>
          <a:prstGeom prst="roundRect">
            <a:avLst>
              <a:gd name="adj" fmla="val 8000"/>
            </a:avLst>
          </a:prstGeom>
          <a:solidFill>
            <a:srgbClr val="EE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10896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1F8E"/>
                </a:solidFill>
                <a:latin typeface="Pretendard"/>
                <a:ea typeface="Pretendard"/>
              </a:rPr>
              <a:t>플랫폼 출력 (Platform Targets)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61188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6850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02A"/>
                </a:solidFill>
                <a:latin typeface="Pretendard"/>
                <a:ea typeface="Pretendard"/>
              </a:rPr>
              <a:t>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68503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Tauri + WebView2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68503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winget / MSIX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11480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18795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02A"/>
                </a:solidFill>
                <a:latin typeface="Pretendard"/>
                <a:ea typeface="Pretendard"/>
              </a:rPr>
              <a:t>macOS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1879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Tauri + WKWebView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418795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Homebrew / DMG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61772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6908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02A"/>
                </a:solidFill>
                <a:latin typeface="Pretendard"/>
                <a:ea typeface="Pretendard"/>
              </a:rPr>
              <a:t>Linux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69087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Tauri + WebKitGTK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69087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AppImage / Flatpak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12064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19379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02A"/>
                </a:solidFill>
                <a:latin typeface="Pretendard"/>
                <a:ea typeface="Pretendard"/>
              </a:rPr>
              <a:t>iOS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19379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Capacitor / 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519379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TestFlight / App Store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562356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6967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02A"/>
                </a:solidFill>
                <a:latin typeface="Pretendard"/>
                <a:ea typeface="Pretendard"/>
              </a:rPr>
              <a:t>Android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69671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Capacitor / 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56967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F6D"/>
                </a:solidFill>
                <a:latin typeface="Pretendard"/>
                <a:ea typeface="Pretendard"/>
              </a:rPr>
              <a:t>Play Store / APK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989320"/>
            <a:ext cx="11109960" cy="32004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결과 : 사용자가 ‘다른 앱을 쓴다’고 느끼지 않는다. 같은 단축키, 같은 레이아웃, 같은 색.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자동 환경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OS와 하드웨어를 읽고, 최적 런타임을 스스로 고른다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사용자는 ‘설정 화면’을 보지 않는다. Lattice AI는 첫 실행에서 시스템을 프로빙하고, 그 사양에 맞는 가속 백엔드·LLM 런타임·도구를 자동으로 내려받아 설치한다.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109960" cy="411480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가속 백엔드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788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LLM 런타임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788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추천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278892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설치 채널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1109960" cy="329184"/>
          </a:xfrm>
          <a:prstGeom prst="rect">
            <a:avLst/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0040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Windows · 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20040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CUDA + cuDNN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2004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llama.cpp / vLLM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2004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/ Qwen 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20040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winget · MSIX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9584"/>
            <a:ext cx="11109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52958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Windows · AMD/Intel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52958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DirectML / Vulkan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52958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llama.cpp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52958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4B / 12B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52958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winget · MSIX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58768"/>
            <a:ext cx="11109960" cy="329184"/>
          </a:xfrm>
          <a:prstGeom prst="rect">
            <a:avLst/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85876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macOS · Apple 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385876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Metal + MLX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8587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MLX / llama.cpp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8587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/ Llama 3.2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58768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Homebrew · DMG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87952"/>
            <a:ext cx="11109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18795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macOS · Intel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418795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Metal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418795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llama.cpp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8795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Phi 3.5 / Gemma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418795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Homebrew · DMG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17136"/>
            <a:ext cx="11109960" cy="329184"/>
          </a:xfrm>
          <a:prstGeom prst="rect">
            <a:avLst/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5171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Linux · NVIDIA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451713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CUDA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451713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llama.cpp / vLLM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51713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Qwen 2.5 / Gemma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517136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apt · dnf · AppImage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46320"/>
            <a:ext cx="11109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8463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Linux · AMD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484632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ROCm / Vulkan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2" y="48463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llama.cpp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1152" y="48463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/ Phi 3.5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484632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apt · dnf · Flatpak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175504"/>
            <a:ext cx="11109960" cy="329184"/>
          </a:xfrm>
          <a:prstGeom prst="rect">
            <a:avLst/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1755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iOS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517550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Core ML · ANE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45152" y="517550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MLC-LLM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152" y="517550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2B (4bit)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517550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App Store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504688"/>
            <a:ext cx="11109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550468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Android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550468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NNAPI · GPU Delegate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2" y="550468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MLC-LLM · TFLite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31152" y="550468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Gemma 3 2B (4bit)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504688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E102A"/>
                </a:solidFill>
                <a:latin typeface="Pretendard"/>
                <a:ea typeface="Pretendard"/>
              </a:rPr>
              <a:t>Play Store · APK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4F6D"/>
                </a:solidFill>
                <a:latin typeface="Pretendard"/>
                <a:ea typeface="Pretendard"/>
              </a:rPr>
              <a:t>원칙 : ‘선택지 1번을 강제’하지 않는다. 자동 추천 → 사용자 1클릭 확인 → 설치 진행. 모든 단계는 로그로 남고 언제든 되돌릴 수 있다.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자동 환경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첫 실행 후 90초 안에 끝나는 5단계 자동 세팅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감지 → 추천 → 설치 → 검증 → 프리셋. 모든 단계는 백그라운드에서 진행되며, 사용자는 진행률만 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214884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C6D9"/>
                </a:solidFill>
                <a:latin typeface="JetBrains Mono"/>
                <a:ea typeface="Pretendard"/>
              </a:rPr>
              <a:t>PROBE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02A"/>
                </a:solidFill>
                <a:latin typeface="Pretendard"/>
                <a:ea typeface="Pretendard"/>
              </a:rPr>
              <a:t>시스템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OS · 커널 · CPU 코어 · RAM · 디스크 여유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GPU 벤더 · VRAM · 가속 SDK 유무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네트워크 · 권한 · 보안 설정 스캔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6916" y="4434840"/>
            <a:ext cx="180000" cy="12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16352" y="2788920"/>
            <a:ext cx="214884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90672" y="3063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C6D9"/>
                </a:solidFill>
                <a:latin typeface="JetBrains Mono"/>
                <a:ea typeface="Pretendard"/>
              </a:rP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977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02A"/>
                </a:solidFill>
                <a:latin typeface="Pretendard"/>
                <a:ea typeface="Pretendard"/>
              </a:rPr>
              <a:t>모델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448056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사양 점수(컴퓨트/메모리)를 산출하여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Gemma · Qwen · Phi · Llama 중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최적 크기·양자화 자동 선택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64628" y="4434840"/>
            <a:ext cx="180000" cy="12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2788920"/>
            <a:ext cx="214884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58384" y="3063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4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C6D9"/>
                </a:solidFill>
                <a:latin typeface="JetBrains Mono"/>
                <a:ea typeface="Pretendard"/>
              </a:rPr>
              <a:t>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3977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02A"/>
                </a:solidFill>
                <a:latin typeface="Pretendard"/>
                <a:ea typeface="Pretendard"/>
              </a:rPr>
              <a:t>런타임 설치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448056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OS별 패키지 매니저 호출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(winget · brew · apt · 스토어 API)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모델 가중치는 검증 후 캐시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32340" y="4434840"/>
            <a:ext cx="180000" cy="12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51776" y="2788920"/>
            <a:ext cx="214884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26096" y="3063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C6D9"/>
                </a:solidFill>
                <a:latin typeface="JetBrains Mono"/>
                <a:ea typeface="Pretendard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3977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02A"/>
                </a:solidFill>
                <a:latin typeface="Pretendard"/>
                <a:ea typeface="Pretendard"/>
              </a:rPr>
              <a:t>검증 / 벤치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48056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추론 토큰/초 측정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메모리 누수 확인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첫 응답 지연 &lt; 1.5초 목표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500052" y="4434840"/>
            <a:ext cx="180000" cy="12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19488" y="2788920"/>
            <a:ext cx="2148840" cy="32918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93808" y="3063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3808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C6D9"/>
                </a:solidFill>
                <a:latin typeface="JetBrains Mono"/>
                <a:ea typeface="Pretendard"/>
              </a:rPr>
              <a:t>PRESET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39776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02A"/>
                </a:solidFill>
                <a:latin typeface="Pretendard"/>
                <a:ea typeface="Pretendard"/>
              </a:rPr>
              <a:t>프리셋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448056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기본 모드 · 고급 모드 자동 분기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MCP 도구 · 단축키 · 테마 자동 셋업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언제든 ‘설정’에서 재실행 가능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99632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A90A7"/>
                </a:solidFill>
                <a:latin typeface="Pretendard"/>
                <a:ea typeface="Pretendard"/>
              </a:rPr>
              <a:t>프라이버시 : 모든 감지·벤치·모델 가중치는 로컬에 머무른다. 외부로 나가는 것은 ‘동의한 익명 텔레메트리’뿐.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반응형 UI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화면이 좁아져도 정보 위계는 그대로 유지된다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세 개의 브레이크포인트, 하나의 컴포넌트 트리. 사이드바·디테일·메인은 화면 폭에 따라 자동 재구성된다.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257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Desktop  ≥ 1280px  ·  3-pane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2120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5212080" cy="292608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Pretendard"/>
                <a:ea typeface="Pretendard"/>
              </a:rPr>
              <a:t>Lattice AI —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00400"/>
            <a:ext cx="548640" cy="265176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3200400"/>
            <a:ext cx="868680" cy="2651760"/>
          </a:xfrm>
          <a:prstGeom prst="roundRect">
            <a:avLst>
              <a:gd name="adj" fmla="val 8000"/>
            </a:avLst>
          </a:prstGeom>
          <a:solidFill>
            <a:srgbClr val="EE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3200400"/>
            <a:ext cx="3429000" cy="1193292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452628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사이드바 + 메인 + 디테일 패널이 동시에 보인다. 단축키 첫 글자(⌘1·⌘2·⌘3)로 즉시 전환.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688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Tablet  768–1279px  ·  2-pane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788920"/>
            <a:ext cx="38404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2788920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Pretendard"/>
                <a:ea typeface="Pretendard"/>
              </a:rPr>
              <a:t>Lattice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3200400"/>
            <a:ext cx="457200" cy="265176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3200400"/>
            <a:ext cx="3090672" cy="1193292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29400" y="4526280"/>
            <a:ext cx="3090672" cy="132588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59893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디테일 패널은 드로어로 변환. 메인은 두 열 카드 그리드 유지.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46888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Mobile  &lt; 768px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788920"/>
            <a:ext cx="16002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2788920"/>
            <a:ext cx="1600200" cy="292608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78892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Pretendard"/>
                <a:ea typeface="Pretendard"/>
              </a:rPr>
              <a:t>Lattice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3200400"/>
            <a:ext cx="1380744" cy="22860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68128" y="5577840"/>
            <a:ext cx="1380744" cy="27432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5650992"/>
            <a:ext cx="128016" cy="128016"/>
          </a:xfrm>
          <a:prstGeom prst="ellips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89336" y="5650992"/>
            <a:ext cx="128016" cy="128016"/>
          </a:xfrm>
          <a:prstGeom prst="ellipse">
            <a:avLst/>
          </a:prstGeom>
          <a:solidFill>
            <a:srgbClr val="8A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27664" y="5650992"/>
            <a:ext cx="128016" cy="128016"/>
          </a:xfrm>
          <a:prstGeom prst="ellipse">
            <a:avLst/>
          </a:prstGeom>
          <a:solidFill>
            <a:srgbClr val="8A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65992" y="5650992"/>
            <a:ext cx="128016" cy="128016"/>
          </a:xfrm>
          <a:prstGeom prst="ellipse">
            <a:avLst/>
          </a:prstGeom>
          <a:solidFill>
            <a:srgbClr val="8A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598932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하단 4탭 + 풀스크린 시트. 같은 컴포넌트, 다른 컴포지션.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디자인 토큰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모든 화면이 같은 ‘진실의 근원(Source of Truth)’을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색·간격·타이포·반경·모션을 토큰으로 정의해, JSON 하나가 모든 플랫폼의 UI를 결정한다.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1F8E"/>
                </a:solidFill>
                <a:latin typeface="Pretendard"/>
                <a:ea typeface="Pretendard"/>
              </a:rPr>
              <a:t>COLOR  ·  Primary / Surface / Ink / Accent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primary/600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primary/800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primary/100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ink/900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4A4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ink/600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surface/50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accent/cyan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2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accent/green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F1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accent/amber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35640" y="3154680"/>
            <a:ext cx="1078992" cy="548640"/>
          </a:xfrm>
          <a:prstGeom prst="roundRect">
            <a:avLst>
              <a:gd name="adj" fmla="val 8000"/>
            </a:avLst>
          </a:prstGeom>
          <a:solidFill>
            <a:srgbClr val="F06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370332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4A4F6D"/>
                </a:solidFill>
                <a:latin typeface="JetBrains Mono"/>
                <a:ea typeface="Pretendard"/>
              </a:rPr>
              <a:t>accent/pink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1F8E"/>
                </a:solidFill>
                <a:latin typeface="Pretendard"/>
                <a:ea typeface="Pretendard"/>
              </a:rPr>
              <a:t>SPACING  ·  4 px base grid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72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76088"/>
            <a:ext cx="1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2080" y="4983480"/>
            <a:ext cx="144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080" y="5276088"/>
            <a:ext cx="235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7520" y="4983480"/>
            <a:ext cx="216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520" y="5276088"/>
            <a:ext cx="30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54960" y="4983480"/>
            <a:ext cx="288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4960" y="5276088"/>
            <a:ext cx="37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34400" y="4983480"/>
            <a:ext cx="432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4400" y="5276088"/>
            <a:ext cx="52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24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57840" y="4983480"/>
            <a:ext cx="576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57840" y="5276088"/>
            <a:ext cx="66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32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25280" y="4983480"/>
            <a:ext cx="864000" cy="27432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25280" y="5276088"/>
            <a:ext cx="955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4F6D"/>
                </a:solidFill>
                <a:latin typeface="JetBrains Mono"/>
                <a:ea typeface="Pretendard"/>
              </a:rPr>
              <a:t>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1F8E"/>
                </a:solidFill>
                <a:latin typeface="Pretendard"/>
                <a:ea typeface="Pretendard"/>
              </a:rPr>
              <a:t>TYPOGRAPHY  ·  Pretendard / Inter / JetBrains Mono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72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102A"/>
                </a:solidFill>
                <a:latin typeface="Pretendard"/>
                <a:ea typeface="Pretendard"/>
              </a:rPr>
              <a:t>Display 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9377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102A"/>
                </a:solidFill>
                <a:latin typeface="Pretendard"/>
                <a:ea typeface="Pretendard"/>
              </a:rPr>
              <a:t>Title 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3035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E102A"/>
                </a:solidFill>
                <a:latin typeface="Pretendard"/>
                <a:ea typeface="Pretendard"/>
              </a:rPr>
              <a:t>Body 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6692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102A"/>
                </a:solidFill>
                <a:latin typeface="Pretendard"/>
                <a:ea typeface="Pretendard"/>
              </a:rPr>
              <a:t>Caption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6035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E102A"/>
                </a:solidFill>
                <a:latin typeface="JetBrains Mono"/>
                <a:ea typeface="Pretendard"/>
              </a:rPr>
              <a:t>Mono 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6235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JetBrains Mono"/>
                <a:ea typeface="Pretendard"/>
              </a:rPr>
              <a:t>RADIUS  8 · 12 · 16 · 24  ·  ROUND BRAND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6235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JetBrains Mono"/>
                <a:ea typeface="Pretendard"/>
              </a:rPr>
              <a:t>MOTION  120 · 200 · 280 ms  ·  ease-out-quint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지식 그래프  · 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점(노드) — 워크스페이스에서 의미를 가지는 모든 ‘무엇’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대화·파일·코드·사람·도구·개념을 모두 하나의 단위로 통합한다. 노드는 ID·타입·라벨·임베딩·속성을 가진 일급 객체다.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120640" cy="315468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1F8E"/>
                </a:solidFill>
                <a:latin typeface="Pretendard"/>
                <a:ea typeface="Pretendard"/>
              </a:rPr>
              <a:t>정의 (Definition)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E102A"/>
                </a:solidFill>
                <a:latin typeface="Pretendard"/>
                <a:ea typeface="Pretendard"/>
              </a:rPr>
              <a:t>노드는 워크스페이스에서 ‘식별 가능하고 의미를 가지는 정보 단위’.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E102A"/>
                </a:solidFill>
                <a:latin typeface="Pretendard"/>
                <a:ea typeface="Pretendard"/>
              </a:rPr>
              <a:t>모든 노드는 (1) 영속 ID, (2) 타입, (3) 라벨, (4) 의미 임베딩 벡터, (5) 구조화된 속성을 반드시 가진다.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B1F8E"/>
                </a:solidFill>
                <a:latin typeface="Pretendard"/>
                <a:ea typeface="Pretendard"/>
              </a:rPr>
              <a:t>필수 속성 (Required Attributes)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1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617719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ULID · 영속 · 전역 유일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8231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782311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노드 카테고리 (열거형)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4690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94690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사람이 읽는 짧은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1149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1114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1024차원 의미 벡터 (코사인)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7608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attrs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276087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타입별 구조화 메타데이터 (JSON)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createdAt / updatedAt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440679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타임스탬프 (UTC)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0527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ownerId /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605271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소유자 · 접근 범위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2743200"/>
            <a:ext cx="5806440" cy="3154680"/>
          </a:xfrm>
          <a:prstGeom prst="roundRect">
            <a:avLst>
              <a:gd name="adj" fmla="val 8000"/>
            </a:avLst>
          </a:prstGeom>
          <a:solidFill>
            <a:srgbClr val="EE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017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노드 타입 카탈로그 (Node Types)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3538728"/>
            <a:ext cx="164592" cy="164592"/>
          </a:xfrm>
          <a:prstGeom prst="ellips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4747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CONVERSATION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6758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대화 세션 전체</a:t>
            </a:r>
          </a:p>
        </p:txBody>
      </p:sp>
      <p:sp>
        <p:nvSpPr>
          <p:cNvPr id="31" name="Oval 30"/>
          <p:cNvSpPr/>
          <p:nvPr/>
        </p:nvSpPr>
        <p:spPr>
          <a:xfrm>
            <a:off x="8846820" y="3538728"/>
            <a:ext cx="164592" cy="164592"/>
          </a:xfrm>
          <a:prstGeom prst="ellips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2852" y="34747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2852" y="36758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단일 발화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3995928"/>
            <a:ext cx="164592" cy="164592"/>
          </a:xfrm>
          <a:prstGeom prst="ellipse">
            <a:avLst/>
          </a:prstGeom>
          <a:solidFill>
            <a:srgbClr val="1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9319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1330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업로드/연결된 파일</a:t>
            </a:r>
          </a:p>
        </p:txBody>
      </p:sp>
      <p:sp>
        <p:nvSpPr>
          <p:cNvPr id="37" name="Oval 36"/>
          <p:cNvSpPr/>
          <p:nvPr/>
        </p:nvSpPr>
        <p:spPr>
          <a:xfrm>
            <a:off x="8846820" y="3995928"/>
            <a:ext cx="164592" cy="164592"/>
          </a:xfrm>
          <a:prstGeom prst="ellipse">
            <a:avLst/>
          </a:prstGeom>
          <a:solidFill>
            <a:srgbClr val="1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2852" y="39319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CHUNK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2852" y="41330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파일의 분할 청크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4453128"/>
            <a:ext cx="164592" cy="164592"/>
          </a:xfrm>
          <a:prstGeom prst="ellipse">
            <a:avLst/>
          </a:prstGeom>
          <a:solidFill>
            <a:srgbClr val="2FC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3891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CODE_SYMBOL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45902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함수 · 클래스 · 모듈</a:t>
            </a:r>
          </a:p>
        </p:txBody>
      </p:sp>
      <p:sp>
        <p:nvSpPr>
          <p:cNvPr id="43" name="Oval 42"/>
          <p:cNvSpPr/>
          <p:nvPr/>
        </p:nvSpPr>
        <p:spPr>
          <a:xfrm>
            <a:off x="8846820" y="4453128"/>
            <a:ext cx="164592" cy="164592"/>
          </a:xfrm>
          <a:prstGeom prst="ellipse">
            <a:avLst/>
          </a:prstGeom>
          <a:solidFill>
            <a:srgbClr val="F1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02852" y="43891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CONCEPT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2852" y="45902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추출된 개념 / 태그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4910328"/>
            <a:ext cx="164592" cy="164592"/>
          </a:xfrm>
          <a:prstGeom prst="ellipse">
            <a:avLst/>
          </a:prstGeom>
          <a:solidFill>
            <a:srgbClr val="F06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8463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PERSON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50474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사용자 · 협업자</a:t>
            </a:r>
          </a:p>
        </p:txBody>
      </p:sp>
      <p:sp>
        <p:nvSpPr>
          <p:cNvPr id="49" name="Oval 48"/>
          <p:cNvSpPr/>
          <p:nvPr/>
        </p:nvSpPr>
        <p:spPr>
          <a:xfrm>
            <a:off x="8846820" y="4910328"/>
            <a:ext cx="164592" cy="164592"/>
          </a:xfrm>
          <a:prstGeom prst="ellipse">
            <a:avLst/>
          </a:prstGeom>
          <a:solidFill>
            <a:srgbClr val="3B1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2852" y="48463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2852" y="50474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로컬/원격 LLM</a:t>
            </a:r>
          </a:p>
        </p:txBody>
      </p:sp>
      <p:sp>
        <p:nvSpPr>
          <p:cNvPr id="52" name="Oval 51"/>
          <p:cNvSpPr/>
          <p:nvPr/>
        </p:nvSpPr>
        <p:spPr>
          <a:xfrm>
            <a:off x="6217920" y="5367528"/>
            <a:ext cx="164592" cy="164592"/>
          </a:xfrm>
          <a:prstGeom prst="ellipse">
            <a:avLst/>
          </a:prstGeom>
          <a:solidFill>
            <a:srgbClr val="3B1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53035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TOOL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55046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MCP 서버 · 외부 도구</a:t>
            </a:r>
          </a:p>
        </p:txBody>
      </p:sp>
      <p:sp>
        <p:nvSpPr>
          <p:cNvPr id="55" name="Oval 54"/>
          <p:cNvSpPr/>
          <p:nvPr/>
        </p:nvSpPr>
        <p:spPr>
          <a:xfrm>
            <a:off x="8846820" y="5367528"/>
            <a:ext cx="164592" cy="164592"/>
          </a:xfrm>
          <a:prstGeom prst="ellipse">
            <a:avLst/>
          </a:prstGeom>
          <a:solidFill>
            <a:srgbClr val="2FC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02852" y="5303520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E102A"/>
                </a:solidFill>
                <a:latin typeface="JetBrains Mono"/>
                <a:ea typeface="Pretendard"/>
              </a:rPr>
              <a:t>PROJECT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2852" y="5504688"/>
            <a:ext cx="21717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주제별 작업 공간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989320"/>
            <a:ext cx="11109960" cy="329184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989320"/>
            <a:ext cx="11109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</a:rPr>
              <a:t>한 줄 요약 :  ‘노드는 워크스페이스의 모든 명사(noun)’ — 식별·검색·연결의 기본 단위.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지식 그래프  · 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선(엣지) — 두 노드 사이의 ‘방향성 있는, 타입화된 관계’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단순 연결선이 아니다. 모든 엣지는 (방향 · 타입 · 강도 · 신뢰도 · 근거)를 동반한다. 그래야 그래프가 ‘추론’할 수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120640" cy="315468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1F8E"/>
                </a:solidFill>
                <a:latin typeface="Pretendard"/>
                <a:ea typeface="Pretendard"/>
              </a:rPr>
              <a:t>정의 (Definition)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E102A"/>
                </a:solidFill>
                <a:latin typeface="Pretendard"/>
                <a:ea typeface="Pretendard"/>
              </a:rPr>
              <a:t>엣지는 두 노드(source → target) 사이의 ‘방향성 있고 타입이 명시된 의미 관계’다.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E102A"/>
                </a:solidFill>
                <a:latin typeface="Pretendard"/>
                <a:ea typeface="Pretendard"/>
              </a:rPr>
              <a:t>단지 ‘연결되어 있음’만 표현하지 않는다. 무엇이, 얼마나 강하게, 어떤 근거로 이어져 있는지를 함께 표현한다.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B1F8E"/>
                </a:solidFill>
                <a:latin typeface="Pretendard"/>
                <a:ea typeface="Pretendard"/>
              </a:rPr>
              <a:t>필수 속성 (Required Attributes)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source /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548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두 노드 ID (방향성 있음)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194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194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관계 타입 (열거형)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840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840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강도 0.0 –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486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24865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추출 신뢰도 0.0 –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132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4132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근거 (메시지/파일 청크 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createdBy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5778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4F6D"/>
                </a:solidFill>
                <a:latin typeface="Pretendard"/>
                <a:ea typeface="Pretendard"/>
              </a:rPr>
              <a:t>extractor: LLM / rule / 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743200"/>
            <a:ext cx="5806440" cy="3154680"/>
          </a:xfrm>
          <a:prstGeom prst="roundRect">
            <a:avLst>
              <a:gd name="adj" fmla="val 8000"/>
            </a:avLst>
          </a:prstGeom>
          <a:solidFill>
            <a:srgbClr val="EE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017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엣지 타입 카탈로그 (Edge Types)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.0" y="3593592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Triangle 26"/>
          <p:cNvSpPr/>
          <p:nvPr/>
        </p:nvSpPr>
        <p:spPr>
          <a:xfrm>
            <a:off x="6382512" y="3538728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7472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CONTAINS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57600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FILE → CHUNK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46820.0" y="3593592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Triangle 30"/>
          <p:cNvSpPr/>
          <p:nvPr/>
        </p:nvSpPr>
        <p:spPr>
          <a:xfrm>
            <a:off x="9011412" y="3538728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6860" y="347472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MENTIONS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6860" y="3657600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MESSAGE → CONCEPT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17920.0" y="3977640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Triangle 34"/>
          <p:cNvSpPr/>
          <p:nvPr/>
        </p:nvSpPr>
        <p:spPr>
          <a:xfrm>
            <a:off x="6382512" y="3922776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8587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REFERENCES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041648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FILE → FILE / URL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46820.0" y="3977640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ight Triangle 38"/>
          <p:cNvSpPr/>
          <p:nvPr/>
        </p:nvSpPr>
        <p:spPr>
          <a:xfrm>
            <a:off x="9011412" y="3922776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6860" y="38587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REPLIES_TO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6860" y="4041648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MESSAGE → MESSAGE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17920.0" y="4361688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/>
          <p:cNvSpPr/>
          <p:nvPr/>
        </p:nvSpPr>
        <p:spPr>
          <a:xfrm>
            <a:off x="6382512" y="4306824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24281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AUTHORED_BY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425696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FILE → PERSON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46820.0" y="4361688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ight Triangle 46"/>
          <p:cNvSpPr/>
          <p:nvPr/>
        </p:nvSpPr>
        <p:spPr>
          <a:xfrm>
            <a:off x="9011412" y="4306824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6860" y="424281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USES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6860" y="4425696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PROJECT → TOOL / MODEL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17920.0" y="4745736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ight Triangle 50"/>
          <p:cNvSpPr/>
          <p:nvPr/>
        </p:nvSpPr>
        <p:spPr>
          <a:xfrm>
            <a:off x="6382512" y="4690872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462686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DERIVED_FROM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4809744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CHUNK → CHUNK (요약)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46820.0" y="4745736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ight Triangle 54"/>
          <p:cNvSpPr/>
          <p:nvPr/>
        </p:nvSpPr>
        <p:spPr>
          <a:xfrm>
            <a:off x="9011412" y="4690872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6860" y="462686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SIMILAR_TO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66860" y="4809744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ANY ↔ ANY  (의미 유사도)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17920.0" y="5129784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ight Triangle 58"/>
          <p:cNvSpPr/>
          <p:nvPr/>
        </p:nvSpPr>
        <p:spPr>
          <a:xfrm>
            <a:off x="6382512" y="5074920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501091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DEPENDS_ON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5193792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CODE_SYMBOL → CODE_SYMBOL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846820.0" y="5129784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ight Triangle 62"/>
          <p:cNvSpPr/>
          <p:nvPr/>
        </p:nvSpPr>
        <p:spPr>
          <a:xfrm>
            <a:off x="9011412" y="5074920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66860" y="501091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TAGGED_AS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6860" y="5193792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ANY → CONCEPT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217920.0" y="5513832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Triangle 66"/>
          <p:cNvSpPr/>
          <p:nvPr/>
        </p:nvSpPr>
        <p:spPr>
          <a:xfrm>
            <a:off x="6382512" y="5458968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37960" y="539496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VERSION_OF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60" y="5577840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FILE → FILE (히스토리)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846820.0" y="5513832"/>
            <a:ext cx="201168.0" cy="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ight Triangle 70"/>
          <p:cNvSpPr/>
          <p:nvPr/>
        </p:nvSpPr>
        <p:spPr>
          <a:xfrm>
            <a:off x="9011412" y="5458968"/>
            <a:ext cx="91440" cy="109728"/>
          </a:xfrm>
          <a:prstGeom prst="rtTriangle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66860" y="539496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102A"/>
                </a:solidFill>
                <a:latin typeface="JetBrains Mono"/>
                <a:ea typeface="Pretendard"/>
              </a:rPr>
              <a:t>GRANTS_ACCESS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66860" y="5577840"/>
            <a:ext cx="2080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6D"/>
                </a:solidFill>
                <a:latin typeface="JetBrains Mono"/>
                <a:ea typeface="Pretendard"/>
              </a:rPr>
              <a:t>PERSON → RESOURCE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5989320"/>
            <a:ext cx="11109960" cy="329184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989320"/>
            <a:ext cx="11109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</a:rPr>
              <a:t>한 줄 요약 :  ‘엣지는 워크스페이스의 모든 동사(verb)’ — 어떤 관계인지 명시해야 의미를 잃지 않는다.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지식 그래프  · 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노드와 엣지를 코드로 보면 이렇게 생겼다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모든 데이터는 동일한 스키마를 따른다. 로컬은 SQLite + vector extension, 동기화는 CRDT 기반 변경 로그.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6675120" cy="3520440"/>
          </a:xfrm>
          <a:prstGeom prst="roundRect">
            <a:avLst>
              <a:gd name="adj" fmla="val 8000"/>
            </a:avLst>
          </a:prstGeom>
          <a:solidFill>
            <a:srgbClr val="0F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8C6D9"/>
                </a:solidFill>
                <a:latin typeface="JetBrains Mono"/>
                <a:ea typeface="Pretendard"/>
              </a:rPr>
              <a:t>schema.json — Node &amp;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60350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"node": {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"id":         "01HX7K…",                  // ULID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"type":       "FILE",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"label":      "LatticeAI_기획서.pdf",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"embedding":  [0.014, -0.231, …, 0.082],  // 1024-d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"attrs":      { "mime":"application/pdf",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                "pageCount":24, "lang":"ko" },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"createdAt":  "2026-05-20T05:30:00Z",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"ownerId":    "user_seoljun"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},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"edge": {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"id":         "01HX7M…",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"source":     "node:FILE/01HX7K…",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"target":     "node:CONCEPT/01HX5A…",    // ‘MCP’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"type":       "MENTIONS",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"weight":     0.82,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"confidence": 0.91,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"evidence":   ["chunk:01HX7K…#p3", "…#p11"],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  "createdBy":  "extractor:llm-gemma-3-12b"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900">
                <a:solidFill>
                  <a:srgbClr val="E8ECFF"/>
                </a:solidFill>
                <a:latin typeface="JetBrains Mon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743200"/>
            <a:ext cx="4206240" cy="352044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94436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시각화 (Live Subgraph)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3749040"/>
            <a:ext cx="502920" cy="502920"/>
          </a:xfrm>
          <a:prstGeom prst="ellipse">
            <a:avLst/>
          </a:prstGeom>
          <a:solidFill>
            <a:srgbClr val="18C6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29768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E102A"/>
                </a:solidFill>
                <a:latin typeface="Pretendard"/>
                <a:ea typeface="Pretendard"/>
              </a:rPr>
              <a:t>기획서.pdf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5262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FILE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3931920"/>
            <a:ext cx="502920" cy="502920"/>
          </a:xfrm>
          <a:prstGeom prst="ellipse">
            <a:avLst/>
          </a:prstGeom>
          <a:solidFill>
            <a:srgbClr val="F1A52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448056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E102A"/>
                </a:solidFill>
                <a:latin typeface="Pretendard"/>
                <a:ea typeface="Pretendard"/>
              </a:rP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470916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CONCEPT</a:t>
            </a:r>
          </a:p>
        </p:txBody>
      </p:sp>
      <p:sp>
        <p:nvSpPr>
          <p:cNvPr id="19" name="Oval 18"/>
          <p:cNvSpPr/>
          <p:nvPr/>
        </p:nvSpPr>
        <p:spPr>
          <a:xfrm>
            <a:off x="9372600" y="5212080"/>
            <a:ext cx="502920" cy="502920"/>
          </a:xfrm>
          <a:prstGeom prst="ellipse">
            <a:avLst/>
          </a:prstGeom>
          <a:solidFill>
            <a:srgbClr val="6E4AE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576072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0E102A"/>
                </a:solidFill>
                <a:latin typeface="Pretendard"/>
                <a:ea typeface="Pretendard"/>
              </a:rPr>
              <a:t>“MCP가 뭐야?”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98932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MESSAGE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18220.0" y="4000500.0"/>
            <a:ext cx="2194560.0" cy="182880.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66860" y="39273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3B1F8E"/>
                </a:solidFill>
                <a:latin typeface="JetBrains Mono"/>
                <a:ea typeface="Pretendard"/>
              </a:rPr>
              <a:t>MENTIONS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6860" y="40919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w=0.82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624060.0" y="4183380.0"/>
            <a:ext cx="1188720.0" cy="1280160.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69780" y="46588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3B1F8E"/>
                </a:solidFill>
                <a:latin typeface="JetBrains Mono"/>
                <a:ea typeface="Pretendard"/>
              </a:rPr>
              <a:t>MENTIONS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9780" y="48234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w=0.74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8618220.0" y="4000500.0"/>
            <a:ext cx="1005840.0" cy="1463040.0"/>
          </a:xfrm>
          <a:prstGeom prst="line">
            <a:avLst/>
          </a:prstGeom>
          <a:ln w="19050">
            <a:solidFill>
              <a:srgbClr val="6E4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72500" y="45674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3B1F8E"/>
                </a:solidFill>
                <a:latin typeface="JetBrains Mono"/>
                <a:ea typeface="Pretendard"/>
              </a:rPr>
              <a:t>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0" y="47320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90A7"/>
                </a:solidFill>
                <a:latin typeface="JetBrains Mono"/>
                <a:ea typeface="Pretendard"/>
              </a:rPr>
              <a:t>w=0.61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1F8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지식 그래프  · 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102A"/>
                </a:solidFill>
                <a:latin typeface="Pretendard"/>
                <a:ea typeface="Pretendard"/>
              </a:rPr>
              <a:t>대화·파일·코드는 어떻게 그래프가 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4F6D"/>
                </a:solidFill>
                <a:latin typeface="Pretendard"/>
                <a:ea typeface="Pretendard"/>
              </a:rPr>
              <a:t>사용자는 ‘넣기만’ 한다. 청킹 · 임베딩 · 엔티티 추출 · 관계 추론은 백그라운드에서 자동으로 일어난다.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파일·대화·코드·웹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로컬에서 안전하게 수신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11720" y="4023360"/>
            <a:ext cx="140000" cy="11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74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구조화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MIME 별 파서 · OCR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청크 분할 + 메타 추출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40520" y="4023360"/>
            <a:ext cx="140000" cy="11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EMBED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벡터화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1024-dim 의미 임베딩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(다국어 · 코드 모두)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9320" y="4023360"/>
            <a:ext cx="140000" cy="11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F1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EXTRACT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엔티티 추출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LLM이 개념·엔티티 식별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→ CONCEPT 노드 생성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798120" y="4023360"/>
            <a:ext cx="140000" cy="11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LINK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관계 추론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Cosine + LLM judge로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엣지 타입·가중치 결정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626920" y="4023360"/>
            <a:ext cx="140000" cy="110000"/>
          </a:xfrm>
          <a:prstGeom prst="rightArrow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92640" y="2834640"/>
            <a:ext cx="1783080" cy="320040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92640" y="2834640"/>
            <a:ext cx="1783080" cy="320040"/>
          </a:xfrm>
          <a:prstGeom prst="roundRect">
            <a:avLst>
              <a:gd name="adj" fmla="val 8000"/>
            </a:avLst>
          </a:prstGeom>
          <a:solidFill>
            <a:srgbClr val="2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8346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JetBrains Mono"/>
                <a:ea typeface="Pretendard"/>
              </a:rPr>
              <a:t>PERSIST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3337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102A"/>
                </a:solidFill>
                <a:latin typeface="Pretendard"/>
                <a:ea typeface="Pretendard"/>
              </a:rPr>
              <a:t>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840480"/>
            <a:ext cx="1325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Local SQLite + sqlite-vec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F6D"/>
                </a:solidFill>
                <a:latin typeface="Pretendard"/>
                <a:ea typeface="Pretendard"/>
              </a:rPr>
              <a:t>변경 로그(CRDT) 동기화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199632"/>
            <a:ext cx="11109960" cy="365760"/>
          </a:xfrm>
          <a:prstGeom prst="roundRect">
            <a:avLst>
              <a:gd name="adj" fmla="val 8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199632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3B1F8E"/>
                </a:solidFill>
                <a:latin typeface="Pretendard"/>
                <a:ea typeface="Pretendard"/>
              </a:rPr>
              <a:t>프라이버시 우선 : 모든 단계는 사용자 기기 안에서 실행된다. 동기화는 선택, E2E 암호화, 사용자가 키를 보유.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48640" y="502920"/>
            <a:ext cx="384048" cy="384048"/>
          </a:xfrm>
          <a:prstGeom prst="hexagon">
            <a:avLst/>
          </a:prstGeom>
          <a:solidFill>
            <a:srgbClr val="6E4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57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EE7FE"/>
                </a:solidFill>
                <a:latin typeface="Pretendard"/>
                <a:ea typeface="Pretendard"/>
              </a:rPr>
              <a:t>LATTICE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4AE6"/>
                </a:solidFill>
                <a:latin typeface="Pretendard"/>
                <a:ea typeface="Pretendard"/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  <a:ea typeface="Pretendard"/>
              </a:rPr>
              <a:t>한 장으로 보는 Lattice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8C8DC"/>
                </a:solidFill>
                <a:latin typeface="Pretendard"/>
                <a:ea typeface="Pretendard"/>
              </a:rPr>
              <a:t>UI는 어디서나 같고, 코어는 어디서나 돌아간다. 사용자 데이터는 절대 기기 밖으로 나가지 않는다.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UI · Shared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React + Tailwind  ·  Design Tokens JSON  ·  Tauri(Desktop)  ·  Capacitor/RN(Mobile)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Experience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Routing · State (Zustand)  ·  i18n  ·  단축키  ·  접근성(WCAG AA)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AI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9476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LLM Runtime 추상화 (llama.cpp · MLX · MLC · vLLM)  ·  Embedding · Reranker  ·  MCP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F1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Knowledge Graph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4340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Node/Edge Store  ·  Vector Index (sqlite-vec)  ·  Extractors · Inference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2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Local Storage  &amp; 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9204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SQLite  ·  파일 Blob  ·  CRDT 변경 로그  ·  선택적 E2E P2P/Server 동기화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068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18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3B1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Auto-Setup &amp; Hardware Abstraction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44068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8C8E0"/>
                </a:solidFill>
                <a:latin typeface="JetBrains Mono"/>
                <a:ea typeface="Pretendard"/>
              </a:rPr>
              <a:t>OS Probe  ·  GPU/SDK 감지  ·  패키지 매니저 어댑터  ·  벤치마크 &amp; 프리셋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989320"/>
            <a:ext cx="11109960" cy="347472"/>
          </a:xfrm>
          <a:prstGeom prst="roundRect">
            <a:avLst>
              <a:gd name="adj" fmla="val 8000"/>
            </a:avLst>
          </a:prstGeom>
          <a:solidFill>
            <a:srgbClr val="6E4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1109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</a:rPr>
              <a:t>원칙 :  Local-first · Privacy-by-default · Same UX everywhere · Graph as the source of meaning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8C6D9"/>
                </a:solidFill>
                <a:latin typeface="JetBrains Mono"/>
                <a:ea typeface="Pretendard"/>
              </a:rPr>
              <a:t>ONE PRODUCT  ·  EVERY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Pretendard"/>
                <a:ea typeface="Pretendard"/>
              </a:rPr>
              <a:t>내 PC에서 시작해서,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Pretendard"/>
                <a:ea typeface="Pretendard"/>
              </a:rPr>
              <a:t>어떤 화면에서도 같은 Lattice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CBE5"/>
                </a:solidFill>
                <a:latin typeface="Pretendard"/>
                <a:ea typeface="Pretendard"/>
              </a:rPr>
              <a:t>Windows · macOS · Linux · iOS · Android  —  자동으로 환경을 맞추고,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CBE5"/>
                </a:solidFill>
                <a:latin typeface="Pretendard"/>
                <a:ea typeface="Pretendard"/>
              </a:rPr>
              <a:t>모든 정보를 지식 그래프로 잇는, 진짜 ‘내 것’인 AI 워크스페이스.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645920" cy="45720"/>
          </a:xfrm>
          <a:prstGeom prst="roundRect">
            <a:avLst>
              <a:gd name="adj" fmla="val 8000"/>
            </a:avLst>
          </a:prstGeom>
          <a:solidFill>
            <a:srgbClr val="18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Lattice AI · 모든 화면에서 동일한 개인 AI 워크스페이스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0A7"/>
                </a:solidFill>
                <a:latin typeface="Pretendard"/>
                <a:ea typeface="Pretendard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AI Final UI Concept with Language Switcher</dc:title>
  <dc:subject>Final UI screenshots</dc:subject>
  <dc:creator>OpenAI</dc:creator>
  <cp:lastModifiedBy>OpenAI</cp:lastModifiedBy>
  <cp:revision>1</cp:revision>
  <dcterms:created xsi:type="dcterms:W3CDTF">2026-05-23T18:56:51Z</dcterms:created>
  <dcterms:modified xsi:type="dcterms:W3CDTF">2026-05-23T18:56:51Z</dcterms:modified>
</cp:coreProperties>
</file>